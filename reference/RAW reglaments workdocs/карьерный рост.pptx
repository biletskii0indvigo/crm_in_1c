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22"/>
        <p:guide pos="385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Заголовок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Замещающий текст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Замещающая дата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29" name="Замещающий нижний колонтитул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Замещающий номер слайда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810"/>
            <a:ext cx="4291965" cy="1292225"/>
          </a:xfrm>
        </p:spPr>
        <p:txBody>
          <a:bodyPr>
            <a:normAutofit fontScale="90000"/>
          </a:bodyPr>
          <a:p>
            <a:pPr algn="ctr"/>
            <a:r>
              <a:rPr lang="ru-RU" altLang="en-US" sz="4445"/>
              <a:t>Карьерный рост</a:t>
            </a:r>
            <a:r>
              <a:rPr lang="ru-RU" altLang="en-US"/>
              <a:t> </a:t>
            </a:r>
            <a:r>
              <a:rPr lang="ru-RU" altLang="en-US" sz="3335"/>
              <a:t>в Отделе продаж</a:t>
            </a:r>
            <a:endParaRPr lang="ru-RU" altLang="en-US" sz="3335"/>
          </a:p>
        </p:txBody>
      </p:sp>
      <p:cxnSp>
        <p:nvCxnSpPr>
          <p:cNvPr id="5" name="Соединительная линия уступом 4"/>
          <p:cNvCxnSpPr/>
          <p:nvPr/>
        </p:nvCxnSpPr>
        <p:spPr>
          <a:xfrm rot="16200000">
            <a:off x="3909060" y="5057775"/>
            <a:ext cx="9525" cy="9525"/>
          </a:xfrm>
          <a:prstGeom prst="bentConnector3">
            <a:avLst>
              <a:gd name="adj1" fmla="val 46667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Соединительная линия уступом 10"/>
          <p:cNvCxnSpPr/>
          <p:nvPr/>
        </p:nvCxnSpPr>
        <p:spPr>
          <a:xfrm rot="10800000" flipV="1">
            <a:off x="2371725" y="5843905"/>
            <a:ext cx="1045210" cy="488315"/>
          </a:xfrm>
          <a:prstGeom prst="bentConnector3">
            <a:avLst>
              <a:gd name="adj1" fmla="val 4993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Соединительная линия уступом 11"/>
          <p:cNvCxnSpPr/>
          <p:nvPr/>
        </p:nvCxnSpPr>
        <p:spPr>
          <a:xfrm rot="10800000" flipV="1">
            <a:off x="3619500" y="4895850"/>
            <a:ext cx="1044575" cy="459740"/>
          </a:xfrm>
          <a:prstGeom prst="bentConnector3">
            <a:avLst>
              <a:gd name="adj1" fmla="val 49970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Соединительная линия уступом 12"/>
          <p:cNvCxnSpPr/>
          <p:nvPr/>
        </p:nvCxnSpPr>
        <p:spPr>
          <a:xfrm rot="10800000" flipV="1">
            <a:off x="2978785" y="5355590"/>
            <a:ext cx="1045210" cy="488315"/>
          </a:xfrm>
          <a:prstGeom prst="bentConnector3">
            <a:avLst>
              <a:gd name="adj1" fmla="val 4993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Соединительная линия уступом 13"/>
          <p:cNvCxnSpPr/>
          <p:nvPr/>
        </p:nvCxnSpPr>
        <p:spPr>
          <a:xfrm rot="10800000" flipV="1">
            <a:off x="4795520" y="3919220"/>
            <a:ext cx="1045210" cy="488315"/>
          </a:xfrm>
          <a:prstGeom prst="bentConnector3">
            <a:avLst>
              <a:gd name="adj1" fmla="val 4993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Соединительная линия уступом 14"/>
          <p:cNvCxnSpPr/>
          <p:nvPr/>
        </p:nvCxnSpPr>
        <p:spPr>
          <a:xfrm rot="10800000" flipV="1">
            <a:off x="4187825" y="4407535"/>
            <a:ext cx="1045210" cy="488315"/>
          </a:xfrm>
          <a:prstGeom prst="bentConnector3">
            <a:avLst>
              <a:gd name="adj1" fmla="val 4993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Соединительная линия уступом 15"/>
          <p:cNvCxnSpPr/>
          <p:nvPr/>
        </p:nvCxnSpPr>
        <p:spPr>
          <a:xfrm rot="10800000" flipV="1">
            <a:off x="5937885" y="2942590"/>
            <a:ext cx="1045210" cy="488315"/>
          </a:xfrm>
          <a:prstGeom prst="bentConnector3">
            <a:avLst>
              <a:gd name="adj1" fmla="val 4993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Соединительная линия уступом 16"/>
          <p:cNvCxnSpPr/>
          <p:nvPr/>
        </p:nvCxnSpPr>
        <p:spPr>
          <a:xfrm rot="10800000" flipV="1">
            <a:off x="5379720" y="3430905"/>
            <a:ext cx="1045210" cy="488315"/>
          </a:xfrm>
          <a:prstGeom prst="bentConnector3">
            <a:avLst>
              <a:gd name="adj1" fmla="val 4993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Соединительная линия уступом 17"/>
          <p:cNvCxnSpPr/>
          <p:nvPr/>
        </p:nvCxnSpPr>
        <p:spPr>
          <a:xfrm rot="10800000" flipV="1">
            <a:off x="8175625" y="2942590"/>
            <a:ext cx="1045210" cy="488315"/>
          </a:xfrm>
          <a:prstGeom prst="bentConnector3">
            <a:avLst>
              <a:gd name="adj1" fmla="val 4993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6" name="Изображение 105"/>
          <p:cNvPicPr/>
          <p:nvPr/>
        </p:nvPicPr>
        <p:blipFill>
          <a:blip r:embed="rId1"/>
          <a:stretch>
            <a:fillRect/>
          </a:stretch>
        </p:blipFill>
        <p:spPr>
          <a:xfrm>
            <a:off x="1471295" y="5549900"/>
            <a:ext cx="1056005" cy="704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Текстовое поле 18"/>
          <p:cNvSpPr txBox="1"/>
          <p:nvPr/>
        </p:nvSpPr>
        <p:spPr>
          <a:xfrm>
            <a:off x="1427480" y="5165090"/>
            <a:ext cx="1170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1400"/>
              <a:t>Стажер</a:t>
            </a:r>
            <a:endParaRPr lang="ru-RU" altLang="en-US" sz="1400"/>
          </a:p>
        </p:txBody>
      </p:sp>
      <p:pic>
        <p:nvPicPr>
          <p:cNvPr id="107" name="Изображение 106"/>
          <p:cNvPicPr/>
          <p:nvPr/>
        </p:nvPicPr>
        <p:blipFill>
          <a:blip r:embed="rId2"/>
          <a:stretch>
            <a:fillRect/>
          </a:stretch>
        </p:blipFill>
        <p:spPr>
          <a:xfrm>
            <a:off x="2689225" y="4090670"/>
            <a:ext cx="838835" cy="1173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Текстовое поле 19"/>
          <p:cNvSpPr txBox="1"/>
          <p:nvPr/>
        </p:nvSpPr>
        <p:spPr>
          <a:xfrm>
            <a:off x="2585720" y="3692525"/>
            <a:ext cx="9423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1400"/>
              <a:t>Куратор</a:t>
            </a:r>
            <a:endParaRPr lang="ru-RU" altLang="en-US" sz="1400"/>
          </a:p>
        </p:txBody>
      </p:sp>
      <p:pic>
        <p:nvPicPr>
          <p:cNvPr id="108" name="Изображение 107"/>
          <p:cNvPicPr/>
          <p:nvPr/>
        </p:nvPicPr>
        <p:blipFill>
          <a:blip r:embed="rId3"/>
          <a:stretch>
            <a:fillRect/>
          </a:stretch>
        </p:blipFill>
        <p:spPr>
          <a:xfrm>
            <a:off x="3528060" y="3252470"/>
            <a:ext cx="1695450" cy="8597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Текстовое поле 20"/>
          <p:cNvSpPr txBox="1"/>
          <p:nvPr/>
        </p:nvSpPr>
        <p:spPr>
          <a:xfrm>
            <a:off x="3528060" y="2942590"/>
            <a:ext cx="20281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400"/>
              <a:t>Старший куратор</a:t>
            </a:r>
            <a:endParaRPr lang="ru-RU" altLang="en-US" sz="1400"/>
          </a:p>
        </p:txBody>
      </p:sp>
      <p:pic>
        <p:nvPicPr>
          <p:cNvPr id="109" name="Изображение 108"/>
          <p:cNvPicPr/>
          <p:nvPr/>
        </p:nvPicPr>
        <p:blipFill>
          <a:blip r:embed="rId4"/>
          <a:stretch>
            <a:fillRect/>
          </a:stretch>
        </p:blipFill>
        <p:spPr>
          <a:xfrm>
            <a:off x="5223510" y="2063750"/>
            <a:ext cx="895985" cy="11887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Текстовое поле 21"/>
          <p:cNvSpPr txBox="1"/>
          <p:nvPr/>
        </p:nvSpPr>
        <p:spPr>
          <a:xfrm>
            <a:off x="4450715" y="1487170"/>
            <a:ext cx="2317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1400"/>
              <a:t>Руководитель Отдела Продаж</a:t>
            </a:r>
            <a:endParaRPr lang="ru-RU" altLang="en-US" sz="1400"/>
          </a:p>
        </p:txBody>
      </p:sp>
      <p:sp>
        <p:nvSpPr>
          <p:cNvPr id="23" name="Текстовое поле 22"/>
          <p:cNvSpPr txBox="1"/>
          <p:nvPr/>
        </p:nvSpPr>
        <p:spPr>
          <a:xfrm>
            <a:off x="3048635" y="6012815"/>
            <a:ext cx="1139190" cy="306705"/>
          </a:xfrm>
          <a:prstGeom prst="rect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5400000" scaled="0"/>
          </a:gradFill>
        </p:spPr>
        <p:txBody>
          <a:bodyPr wrap="square" rtlCol="0">
            <a:spAutoFit/>
          </a:bodyPr>
          <a:p>
            <a:r>
              <a:rPr lang="ru-RU" altLang="en-US" sz="1400"/>
              <a:t>Сегодня</a:t>
            </a:r>
            <a:endParaRPr lang="ru-RU" altLang="en-US" sz="1400"/>
          </a:p>
        </p:txBody>
      </p:sp>
      <p:sp>
        <p:nvSpPr>
          <p:cNvPr id="24" name="Текстовое поле 23"/>
          <p:cNvSpPr txBox="1"/>
          <p:nvPr/>
        </p:nvSpPr>
        <p:spPr>
          <a:xfrm>
            <a:off x="4246245" y="4980305"/>
            <a:ext cx="1652905" cy="306705"/>
          </a:xfrm>
          <a:prstGeom prst="rect">
            <a:avLst/>
          </a:prstGeom>
          <a:gradFill>
            <a:gsLst>
              <a:gs pos="0">
                <a:srgbClr val="FECF40"/>
              </a:gs>
              <a:gs pos="100000">
                <a:srgbClr val="846C21"/>
              </a:gs>
            </a:gsLst>
            <a:lin ang="5400000" scaled="0"/>
          </a:gradFill>
        </p:spPr>
        <p:txBody>
          <a:bodyPr wrap="square" rtlCol="0">
            <a:spAutoFit/>
          </a:bodyPr>
          <a:p>
            <a:r>
              <a:rPr lang="ru-RU" altLang="en-US" sz="1400"/>
              <a:t>Через месяц</a:t>
            </a:r>
            <a:endParaRPr lang="ru-RU" altLang="en-US" sz="1400"/>
          </a:p>
        </p:txBody>
      </p:sp>
      <p:sp>
        <p:nvSpPr>
          <p:cNvPr id="25" name="Текстовое поле 24"/>
          <p:cNvSpPr txBox="1"/>
          <p:nvPr/>
        </p:nvSpPr>
        <p:spPr>
          <a:xfrm>
            <a:off x="5446395" y="4021455"/>
            <a:ext cx="2309495" cy="306705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</p:spPr>
        <p:txBody>
          <a:bodyPr wrap="square" rtlCol="0">
            <a:spAutoFit/>
          </a:bodyPr>
          <a:p>
            <a:pPr algn="ctr"/>
            <a:r>
              <a:rPr lang="ru-RU" altLang="en-US" sz="1400"/>
              <a:t>Через 6 месяцев</a:t>
            </a:r>
            <a:endParaRPr lang="ru-RU" altLang="en-US" sz="1400"/>
          </a:p>
        </p:txBody>
      </p:sp>
      <p:sp>
        <p:nvSpPr>
          <p:cNvPr id="26" name="Текстовое поле 25"/>
          <p:cNvSpPr txBox="1"/>
          <p:nvPr/>
        </p:nvSpPr>
        <p:spPr>
          <a:xfrm>
            <a:off x="6517005" y="3062605"/>
            <a:ext cx="2106295" cy="306705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</p:spPr>
        <p:txBody>
          <a:bodyPr wrap="square" rtlCol="0">
            <a:spAutoFit/>
          </a:bodyPr>
          <a:p>
            <a:pPr algn="ctr"/>
            <a:r>
              <a:rPr lang="ru-RU" altLang="en-US" sz="1400"/>
              <a:t>Через 12 месяцев</a:t>
            </a:r>
            <a:endParaRPr lang="ru-RU" altLang="en-US" sz="1400"/>
          </a:p>
        </p:txBody>
      </p:sp>
      <p:cxnSp>
        <p:nvCxnSpPr>
          <p:cNvPr id="27" name="Соединительная линия уступом 26"/>
          <p:cNvCxnSpPr/>
          <p:nvPr/>
        </p:nvCxnSpPr>
        <p:spPr>
          <a:xfrm rot="10800000" flipV="1">
            <a:off x="6517005" y="2454275"/>
            <a:ext cx="1045210" cy="488315"/>
          </a:xfrm>
          <a:prstGeom prst="bentConnector3">
            <a:avLst>
              <a:gd name="adj1" fmla="val 4993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0" name="Изображение 109"/>
          <p:cNvPicPr/>
          <p:nvPr/>
        </p:nvPicPr>
        <p:blipFill>
          <a:blip r:embed="rId5"/>
          <a:stretch>
            <a:fillRect/>
          </a:stretch>
        </p:blipFill>
        <p:spPr>
          <a:xfrm>
            <a:off x="9271635" y="2007235"/>
            <a:ext cx="903605" cy="12420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" name="Текстовое поле 27"/>
          <p:cNvSpPr txBox="1"/>
          <p:nvPr/>
        </p:nvSpPr>
        <p:spPr>
          <a:xfrm>
            <a:off x="8623300" y="1485265"/>
            <a:ext cx="22009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1400"/>
              <a:t>Руководитель Клиентского Сервиса</a:t>
            </a:r>
            <a:endParaRPr lang="ru-RU" altLang="en-US" sz="1400"/>
          </a:p>
        </p:txBody>
      </p:sp>
      <p:pic>
        <p:nvPicPr>
          <p:cNvPr id="111" name="Изображение 110"/>
          <p:cNvPicPr/>
          <p:nvPr/>
        </p:nvPicPr>
        <p:blipFill>
          <a:blip r:embed="rId6"/>
          <a:stretch>
            <a:fillRect/>
          </a:stretch>
        </p:blipFill>
        <p:spPr>
          <a:xfrm>
            <a:off x="7099935" y="620395"/>
            <a:ext cx="1191895" cy="14433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" name="Текстовое поле 28"/>
          <p:cNvSpPr txBox="1"/>
          <p:nvPr/>
        </p:nvSpPr>
        <p:spPr>
          <a:xfrm>
            <a:off x="6554470" y="185420"/>
            <a:ext cx="2717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Генеральный Директор</a:t>
            </a:r>
            <a:endParaRPr lang="ru-RU" altLang="en-US"/>
          </a:p>
        </p:txBody>
      </p:sp>
      <p:sp>
        <p:nvSpPr>
          <p:cNvPr id="30" name="Текстовое поле 29"/>
          <p:cNvSpPr txBox="1"/>
          <p:nvPr/>
        </p:nvSpPr>
        <p:spPr>
          <a:xfrm>
            <a:off x="7031990" y="2074545"/>
            <a:ext cx="1762760" cy="306705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5400000" scaled="0"/>
          </a:gradFill>
        </p:spPr>
        <p:txBody>
          <a:bodyPr wrap="square" rtlCol="0">
            <a:spAutoFit/>
          </a:bodyPr>
          <a:p>
            <a:pPr algn="ctr"/>
            <a:r>
              <a:rPr lang="ru-RU" altLang="en-US" sz="1400"/>
              <a:t>Через 5 лет</a:t>
            </a:r>
            <a:endParaRPr lang="ru-RU" altLang="en-US" sz="1400"/>
          </a:p>
        </p:txBody>
      </p:sp>
      <p:cxnSp>
        <p:nvCxnSpPr>
          <p:cNvPr id="31" name="Соединительная линия уступом 30"/>
          <p:cNvCxnSpPr/>
          <p:nvPr/>
        </p:nvCxnSpPr>
        <p:spPr>
          <a:xfrm rot="10800000" flipV="1">
            <a:off x="7390765" y="3914775"/>
            <a:ext cx="1045210" cy="488315"/>
          </a:xfrm>
          <a:prstGeom prst="bentConnector3">
            <a:avLst>
              <a:gd name="adj1" fmla="val 4993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2" name="Изображение 111"/>
          <p:cNvPicPr/>
          <p:nvPr/>
        </p:nvPicPr>
        <p:blipFill>
          <a:blip r:embed="rId7"/>
          <a:stretch>
            <a:fillRect/>
          </a:stretch>
        </p:blipFill>
        <p:spPr>
          <a:xfrm>
            <a:off x="8623300" y="3505200"/>
            <a:ext cx="1114425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" name="Текстовое поле 31"/>
          <p:cNvSpPr txBox="1"/>
          <p:nvPr/>
        </p:nvSpPr>
        <p:spPr>
          <a:xfrm>
            <a:off x="9551670" y="3369310"/>
            <a:ext cx="16052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1400"/>
              <a:t>Тренер Отдела Продаж</a:t>
            </a:r>
            <a:endParaRPr lang="ru-RU" altLang="en-US" sz="1400"/>
          </a:p>
        </p:txBody>
      </p:sp>
      <p:sp>
        <p:nvSpPr>
          <p:cNvPr id="33" name="Текстовое поле 32"/>
          <p:cNvSpPr txBox="1"/>
          <p:nvPr/>
        </p:nvSpPr>
        <p:spPr>
          <a:xfrm>
            <a:off x="5782945" y="6254115"/>
            <a:ext cx="640905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1000" i="1"/>
              <a:t>Все сроки и кандидаты рассматриваются в индивидуальном порядке. Обязательными условиями являются лояльность к компании и ее ценностям, личная эффективность, прохождение всех этапов собеседования и испытательного срока </a:t>
            </a:r>
            <a:endParaRPr lang="ru-RU" altLang="en-US" sz="1000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WPS Presentation</Application>
  <PresentationFormat>宽屏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Arial Unicode MS</vt:lpstr>
      <vt:lpstr>Calibri</vt:lpstr>
      <vt:lpstr>Microsoft YaHei</vt:lpstr>
      <vt:lpstr>Default Design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romanenko</cp:lastModifiedBy>
  <cp:revision>2</cp:revision>
  <dcterms:created xsi:type="dcterms:W3CDTF">2025-03-12T06:38:43Z</dcterms:created>
  <dcterms:modified xsi:type="dcterms:W3CDTF">2025-03-12T07:36:08Z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1049-12.2.0.13489</vt:lpwstr>
  </property>
  <property fmtid="{D5CDD505-2E9C-101B-9397-08002B2CF9AE}" pid="3" name="ICV">
    <vt:lpwstr>B9A88785070C453AAC278AECD5F83A19_12</vt:lpwstr>
  </property>
</Properties>
</file>
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7103725" cy="10234275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73">
          <p15:clr>
            <a:srgbClr val="A4A3A4"/>
          </p15:clr>
        </p15:guide>
        <p15:guide id="2" pos="384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73" orient="horz"/>
        <p:guide pos="384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</a:pPr>
            <a:r>
              <a:rPr lang="ru-RU">
                <a:latin typeface="Arial Black"/>
                <a:ea typeface="Arial Black"/>
                <a:cs typeface="Arial Black"/>
                <a:sym typeface="Arial Black"/>
              </a:rPr>
              <a:t>Скрипты 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" name="Google Shape;81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ru-RU"/>
              <a:t>то, что поможет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216535" y="71120"/>
            <a:ext cx="11817985" cy="6681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 b="1" sz="2665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b="1" lang="ru-RU" sz="2665">
                <a:latin typeface="Arial Black"/>
                <a:ea typeface="Arial Black"/>
                <a:cs typeface="Arial Black"/>
                <a:sym typeface="Arial Black"/>
              </a:rPr>
              <a:t>1. Скрипт врача (ключ — подготовка к продаже)</a:t>
            </a:r>
            <a:endParaRPr b="1" sz="2665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 b="1" sz="2665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b="1" lang="ru-RU"/>
              <a:t>Цель врача не продать, а: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- сформировать доверие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- объяснить проблему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- обосновать необходимость лечения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- передать пациента куратору как логичное продолжение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b="1" lang="ru-RU" sz="2665">
                <a:latin typeface="Arial Black"/>
                <a:ea typeface="Arial Black"/>
                <a:cs typeface="Arial Black"/>
                <a:sym typeface="Arial Black"/>
              </a:rPr>
              <a:t>Структура приема</a:t>
            </a:r>
            <a:endParaRPr b="1" sz="2665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b="1" lang="ru-RU"/>
              <a:t>1. Выявление боли (эмоциональный якорь)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«Что вас больше всего беспокоит сейчас?»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«В какой момент это мешает сильнее всего?»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ru-RU">
                <a:solidFill>
                  <a:srgbClr val="FF0000"/>
                </a:solidFill>
              </a:rPr>
              <a:t>📌</a:t>
            </a:r>
            <a:r>
              <a:rPr lang="ru-RU"/>
              <a:t> Задача: зафиксировать жизненную проблему, не диагноз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93980" y="142875"/>
            <a:ext cx="12003405" cy="66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2. Усиление (аккуратно)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«Если это не лечить, скорее всего будет… (простыми словами)»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«Это как раз та ситуация, когда само не проходит»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📌 </a:t>
            </a:r>
            <a:r>
              <a:rPr lang="ru-RU"/>
              <a:t>Без запугивания — но с последствиями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3. Объяснение диагноза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«Смотрите, если простыми словами…»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«У вас не просто боль — у вас причина вот здесь…»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📌</a:t>
            </a:r>
            <a:r>
              <a:rPr lang="ru-RU"/>
              <a:t> Ключ: понятно, без терминов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73025" y="70485"/>
            <a:ext cx="12023725" cy="669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4. Формирование ценности лечения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«Наша задача — не просто убрать боль, а убрать причину»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«Это делается не одной процедурой, а системой»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5. Логика плана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«Поэтому мы делаем так: сначала…, затем…, и закрепляем…»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📌</a:t>
            </a:r>
            <a:r>
              <a:rPr lang="ru-RU"/>
              <a:t> Важно: не список услуг, а логика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165100" y="152400"/>
            <a:ext cx="11941175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6. Передача куратору (критический момент)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❌ </a:t>
            </a:r>
            <a:r>
              <a:rPr b="1" lang="ru-RU"/>
              <a:t>Ошибка: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«Подойдите к администратору»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ru-RU">
                <a:solidFill>
                  <a:schemeClr val="lt1"/>
                </a:solidFill>
                <a:highlight>
                  <a:srgbClr val="00FF00"/>
                </a:highlight>
              </a:rPr>
              <a:t>✅</a:t>
            </a:r>
            <a:r>
              <a:rPr lang="ru-RU">
                <a:highlight>
                  <a:srgbClr val="00FF00"/>
                </a:highlight>
              </a:rPr>
              <a:t> </a:t>
            </a:r>
            <a:r>
              <a:rPr b="1" lang="ru-RU"/>
              <a:t>Правильно: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«Я сейчас передам вас нашему куратору.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Он объяснит вам весь план по шагам, по стоимости и как удобно это пройти»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ru-RU"/>
              <a:t>персонализация: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«Я ему передам, что для вас важно (например: быстрее снять боль / не перегружать по деньгам)»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206375" y="213995"/>
            <a:ext cx="11900535" cy="65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7. Внутренний hand-off (в CRM или устно)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ru-RU"/>
              <a:t>Врач ОБЯЗАТЕЛЬНО передает куратору: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- Боль пациента (его словами)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- Приоритет (быстро / экономно / аккуратно)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- Риск отказа (если есть)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107315" y="111760"/>
            <a:ext cx="11999595" cy="667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ru-RU"/>
              <a:t>2. </a:t>
            </a:r>
            <a:r>
              <a:rPr b="1" lang="ru-RU" sz="2525">
                <a:latin typeface="Arial Black"/>
                <a:ea typeface="Arial Black"/>
                <a:cs typeface="Arial Black"/>
                <a:sym typeface="Arial Black"/>
              </a:rPr>
              <a:t>Скрипт куратора (основной продажник)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ru-RU"/>
              <a:t>Цель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Перевести: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«я послушал врача» → «я понимаю и готов лечиться»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525"/>
              <a:buNone/>
            </a:pPr>
            <a:r>
              <a:rPr b="1" lang="ru-RU" sz="2525">
                <a:latin typeface="Arial Black"/>
                <a:ea typeface="Arial Black"/>
                <a:cs typeface="Arial Black"/>
                <a:sym typeface="Arial Black"/>
              </a:rPr>
              <a:t>Структура общения</a:t>
            </a:r>
            <a:endParaRPr b="1" sz="2525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ru-RU"/>
              <a:t>1. Перехват контакта (сразу после врача)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«Врач мне передал вашу ситуацию, давайте я коротко объясню план и отвечу на все вопросы»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📌</a:t>
            </a:r>
            <a:r>
              <a:rPr lang="ru-RU"/>
              <a:t> Нельзя спрашивать «что вам сказали» — это обнуляет врача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139065" y="153670"/>
            <a:ext cx="11969750" cy="6616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 sz="9600">
                <a:latin typeface="Arial Black"/>
                <a:ea typeface="Arial Black"/>
                <a:cs typeface="Arial Black"/>
                <a:sym typeface="Arial Black"/>
              </a:rPr>
              <a:t>2. Проверка понимания</a:t>
            </a:r>
            <a:endParaRPr sz="9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 sz="9600"/>
              <a:t>«Скажите, правильно понимаю, что основная проблема — …?»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ru-RU" sz="9600">
                <a:solidFill>
                  <a:srgbClr val="FF0000"/>
                </a:solidFill>
              </a:rPr>
              <a:t>📌</a:t>
            </a:r>
            <a:r>
              <a:rPr lang="ru-RU" sz="9600"/>
              <a:t> Пациент должен сам проговорить боль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 sz="5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 sz="9600">
                <a:latin typeface="Arial Black"/>
                <a:ea typeface="Arial Black"/>
                <a:cs typeface="Arial Black"/>
                <a:sym typeface="Arial Black"/>
              </a:rPr>
              <a:t>3. Перевод плана на «человеческий»</a:t>
            </a:r>
            <a:endParaRPr sz="9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ru-RU" sz="9600">
                <a:solidFill>
                  <a:srgbClr val="FF0000"/>
                </a:solidFill>
              </a:rPr>
              <a:t>❌</a:t>
            </a:r>
            <a:r>
              <a:rPr lang="ru-RU" sz="9600"/>
              <a:t> </a:t>
            </a:r>
            <a:r>
              <a:rPr b="1" lang="ru-RU" sz="9600"/>
              <a:t>Ошибка: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 sz="9600"/>
              <a:t>«10 процедур, 3 консультации…»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sz="9600">
                <a:solidFill>
                  <a:schemeClr val="lt1"/>
                </a:solidFill>
                <a:highlight>
                  <a:srgbClr val="00FF00"/>
                </a:highlight>
              </a:rPr>
              <a:t>✅ </a:t>
            </a:r>
            <a:r>
              <a:rPr b="1" lang="ru-RU" sz="9600"/>
              <a:t>Правильно: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 sz="9600"/>
              <a:t>«Смотрите, план состоит из 3 частей: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 sz="9600"/>
              <a:t>- Снять обострение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 sz="9600"/>
              <a:t>- Убрать причину</a:t>
            </a:r>
            <a:endParaRPr sz="9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 sz="9600"/>
              <a:t>- Закрепить результат»</a:t>
            </a:r>
            <a:endParaRPr sz="9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86995" y="101600"/>
            <a:ext cx="12105640" cy="6687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ru-RU" sz="2400">
                <a:latin typeface="Arial Black"/>
                <a:ea typeface="Arial Black"/>
                <a:cs typeface="Arial Black"/>
                <a:sym typeface="Arial Black"/>
              </a:rPr>
              <a:t>4. Привязка к результату</a:t>
            </a:r>
            <a:endParaRPr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«Обычно на первом этапе становится легче уже через…»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«Основная цель — чтобы вы могли… (вернуться к жизни)»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ru-RU" sz="2400">
                <a:latin typeface="Arial Black"/>
                <a:ea typeface="Arial Black"/>
                <a:cs typeface="Arial Black"/>
                <a:sym typeface="Arial Black"/>
              </a:rPr>
              <a:t>5. Озвучивание стоимости (без паузы страха)</a:t>
            </a:r>
            <a:endParaRPr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❌</a:t>
            </a:r>
            <a:r>
              <a:rPr lang="ru-RU"/>
              <a:t> </a:t>
            </a:r>
            <a:r>
              <a:rPr b="1" lang="ru-RU"/>
              <a:t>Ошибка: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«Стоимость 45 тысяч…»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ru-RU">
                <a:solidFill>
                  <a:schemeClr val="lt1"/>
                </a:solidFill>
                <a:highlight>
                  <a:srgbClr val="00FF00"/>
                </a:highlight>
              </a:rPr>
              <a:t>✅ </a:t>
            </a:r>
            <a:r>
              <a:rPr b="1" lang="ru-RU"/>
              <a:t>Правильно: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«Полный курс, который решает проблему, стоит 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Но его можно пройти поэтапно»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97155" y="132715"/>
            <a:ext cx="11979275" cy="6625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6. Управление возражениями (3 ключевых типа)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ru-RU">
                <a:solidFill>
                  <a:srgbClr val="FF0000"/>
                </a:solidFill>
              </a:rPr>
              <a:t>Цена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«Важно не просто дешевле, а чтобы помогло.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Можно начать с минимального этапа»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ru-RU">
                <a:solidFill>
                  <a:srgbClr val="FF0000"/>
                </a:solidFill>
              </a:rPr>
              <a:t>“Подумаю”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«Конечно. Скажите, что именно хочется обдумать?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Я поясню, чтобы решение было проще»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ru-RU">
                <a:solidFill>
                  <a:srgbClr val="FF0000"/>
                </a:solidFill>
              </a:rPr>
              <a:t>Недоверие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«Это нормальный вопрос.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Давайте покажу, из чего складывается план»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107950" y="112395"/>
            <a:ext cx="12021185" cy="6666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ru-RU" sz="2400">
                <a:latin typeface="Arial Black"/>
                <a:ea typeface="Arial Black"/>
                <a:cs typeface="Arial Black"/>
                <a:sym typeface="Arial Black"/>
              </a:rPr>
              <a:t>7. Закрытие</a:t>
            </a:r>
            <a:endParaRPr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ru-RU"/>
              <a:t>Мягкое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«Давайте начнем с первого этапа, чтобы вам стало легче»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ru-RU"/>
              <a:t>Прямое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«Когда вам удобнее начать — сегодня или завтра?»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/>
        </p:nvSpPr>
        <p:spPr>
          <a:xfrm>
            <a:off x="109855" y="128270"/>
            <a:ext cx="12014200" cy="672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3. Скрипты дожима (CRM)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Сценарий “Пауза”</a:t>
            </a:r>
            <a:endParaRPr b="1" sz="2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День 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«Вы вчера были у врача.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Удалось подумать? Что вызывает сомнение?»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День 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«Отправляю вам кратко: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чем причина и как решается (2–3 предложения)»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День 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«Важно не затягивать, потому что…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Давайте хотя бы начнем с первого этапа»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97155" y="92075"/>
            <a:ext cx="12031345" cy="6697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ru-RU" sz="2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Сценарий “Частичный выкуп”</a:t>
            </a:r>
            <a:endParaRPr b="1" sz="2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«Как самочувствие после первых процедур?»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→ если есть улучшение: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«Это как раз эффект первого этапа.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Чтобы закрепить — важно пройти дальше»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ru-RU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Сценарий “Отказ” (через 30 дней)</a:t>
            </a:r>
            <a:endParaRPr b="1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«Вы были у нас месяц назад.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Состояние изменилось или осталось так же?»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📌</a:t>
            </a:r>
            <a:r>
              <a:rPr lang="ru-RU"/>
              <a:t> НЕ продавать сразу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ru-RU">
                <a:solidFill>
                  <a:schemeClr val="lt1"/>
                </a:solidFill>
                <a:highlight>
                  <a:srgbClr val="00FF00"/>
                </a:highlight>
              </a:rPr>
              <a:t>→</a:t>
            </a:r>
            <a:r>
              <a:rPr lang="ru-RU"/>
              <a:t> сначала вернуть в диалог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97155" y="112395"/>
            <a:ext cx="12094210" cy="667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4. Ключевые ошибки, которые ломают конверсию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❌</a:t>
            </a:r>
            <a:r>
              <a:rPr lang="ru-RU"/>
              <a:t> Врач не объяснил «зачем лечиться»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❌</a:t>
            </a:r>
            <a:r>
              <a:rPr lang="ru-RU"/>
              <a:t> Нет передачи куратору (пациент “теряется”)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❌</a:t>
            </a:r>
            <a:r>
              <a:rPr lang="ru-RU"/>
              <a:t> Куратор говорит услугами, а не логикой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❌</a:t>
            </a:r>
            <a:r>
              <a:rPr lang="ru-RU"/>
              <a:t> Цена звучит как «удар»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ru-RU">
                <a:solidFill>
                  <a:srgbClr val="FF0000"/>
                </a:solidFill>
              </a:rPr>
              <a:t>❌</a:t>
            </a:r>
            <a:r>
              <a:rPr lang="ru-RU"/>
              <a:t> Нет дожима в CRM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ru-RU" sz="2400">
                <a:latin typeface="Arial Black"/>
                <a:ea typeface="Arial Black"/>
                <a:cs typeface="Arial Black"/>
                <a:sym typeface="Arial Black"/>
              </a:rPr>
              <a:t>5. Самое важное</a:t>
            </a:r>
            <a:endParaRPr b="1" sz="2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Пациент покупает не лечение.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Он покупает: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ru-RU">
                <a:solidFill>
                  <a:schemeClr val="lt1"/>
                </a:solidFill>
                <a:highlight>
                  <a:srgbClr val="00FF00"/>
                </a:highlight>
              </a:rPr>
              <a:t>✅ </a:t>
            </a:r>
            <a:r>
              <a:rPr lang="ru-RU"/>
              <a:t>понятность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ru-RU">
                <a:solidFill>
                  <a:schemeClr val="lt1"/>
                </a:solidFill>
                <a:highlight>
                  <a:srgbClr val="00FF00"/>
                </a:highlight>
              </a:rPr>
              <a:t>✅ </a:t>
            </a:r>
            <a:r>
              <a:rPr lang="ru-RU"/>
              <a:t>уверенность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ru-RU">
                <a:solidFill>
                  <a:schemeClr val="lt1"/>
                </a:solidFill>
                <a:highlight>
                  <a:srgbClr val="00FF00"/>
                </a:highlight>
              </a:rPr>
              <a:t>✅ </a:t>
            </a:r>
            <a:r>
              <a:rPr lang="ru-RU"/>
              <a:t>ощущение контроля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
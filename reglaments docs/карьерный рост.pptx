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7103725" cy="10234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22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22" orient="horz"/>
        <p:guide pos="385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1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0"/>
            <a:ext cx="537667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205728" y="1600200"/>
            <a:ext cx="537667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sz="12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2pPr>
            <a:lvl3pPr indent="-228600" lvl="2" marL="1371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indent="-228600" lvl="4" marL="22860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indent="-228600" lvl="5" marL="27432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indent="-228600" lvl="6" marL="32004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indent="-228600" lvl="7" marL="3657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indent="-228600" lvl="8" marL="41148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/>
            </a:lvl2pPr>
            <a:lvl3pPr indent="-228600" lvl="2" marL="1371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4pPr>
            <a:lvl5pPr indent="-228600" lvl="4" marL="22860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5pPr>
            <a:lvl6pPr indent="-228600" lvl="5" marL="27432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6pPr>
            <a:lvl7pPr indent="-228600" lvl="6" marL="32004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7pPr>
            <a:lvl8pPr indent="-228600" lvl="7" marL="3657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8pPr>
            <a:lvl9pPr indent="-228600" lvl="8" marL="41148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1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19124" y="-834886"/>
            <a:ext cx="5851525" cy="807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jpg"/><Relationship Id="rId9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2.png"/><Relationship Id="rId7" Type="http://schemas.openxmlformats.org/officeDocument/2006/relationships/image" Target="../media/image4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0" y="3810"/>
            <a:ext cx="4291965" cy="1292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</a:pPr>
            <a:r>
              <a:rPr lang="ru-RU" sz="4445"/>
              <a:t>Карьерный рост</a:t>
            </a:r>
            <a:r>
              <a:rPr lang="ru-RU"/>
              <a:t> </a:t>
            </a:r>
            <a:r>
              <a:rPr lang="ru-RU" sz="3335"/>
              <a:t>в Отделе продаж</a:t>
            </a:r>
            <a:endParaRPr sz="3335"/>
          </a:p>
        </p:txBody>
      </p:sp>
      <p:cxnSp>
        <p:nvCxnSpPr>
          <p:cNvPr id="89" name="Google Shape;89;p13"/>
          <p:cNvCxnSpPr/>
          <p:nvPr/>
        </p:nvCxnSpPr>
        <p:spPr>
          <a:xfrm flipH="1" rot="10800000">
            <a:off x="3909060" y="5057700"/>
            <a:ext cx="9600" cy="9600"/>
          </a:xfrm>
          <a:prstGeom prst="bentConnector3">
            <a:avLst>
              <a:gd fmla="val 0" name="adj1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3"/>
          <p:cNvCxnSpPr/>
          <p:nvPr/>
        </p:nvCxnSpPr>
        <p:spPr>
          <a:xfrm flipH="1">
            <a:off x="2371735" y="5843905"/>
            <a:ext cx="1045200" cy="488400"/>
          </a:xfrm>
          <a:prstGeom prst="bentConnector3">
            <a:avLst>
              <a:gd fmla="val 49939" name="adj1"/>
            </a:avLst>
          </a:prstGeom>
          <a:noFill/>
          <a:ln cap="rnd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13"/>
          <p:cNvCxnSpPr/>
          <p:nvPr/>
        </p:nvCxnSpPr>
        <p:spPr>
          <a:xfrm flipH="1">
            <a:off x="3619475" y="4895850"/>
            <a:ext cx="1044600" cy="459600"/>
          </a:xfrm>
          <a:prstGeom prst="bentConnector3">
            <a:avLst>
              <a:gd fmla="val 49969" name="adj1"/>
            </a:avLst>
          </a:prstGeom>
          <a:noFill/>
          <a:ln cap="rnd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13"/>
          <p:cNvCxnSpPr/>
          <p:nvPr/>
        </p:nvCxnSpPr>
        <p:spPr>
          <a:xfrm flipH="1">
            <a:off x="2978795" y="5355590"/>
            <a:ext cx="1045200" cy="488400"/>
          </a:xfrm>
          <a:prstGeom prst="bentConnector3">
            <a:avLst>
              <a:gd fmla="val 49939" name="adj1"/>
            </a:avLst>
          </a:prstGeom>
          <a:noFill/>
          <a:ln cap="rnd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13"/>
          <p:cNvCxnSpPr/>
          <p:nvPr/>
        </p:nvCxnSpPr>
        <p:spPr>
          <a:xfrm flipH="1">
            <a:off x="4795530" y="3919220"/>
            <a:ext cx="1045200" cy="488400"/>
          </a:xfrm>
          <a:prstGeom prst="bentConnector3">
            <a:avLst>
              <a:gd fmla="val 49939" name="adj1"/>
            </a:avLst>
          </a:prstGeom>
          <a:noFill/>
          <a:ln cap="rnd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13"/>
          <p:cNvCxnSpPr/>
          <p:nvPr/>
        </p:nvCxnSpPr>
        <p:spPr>
          <a:xfrm flipH="1">
            <a:off x="4187835" y="4407535"/>
            <a:ext cx="1045200" cy="488400"/>
          </a:xfrm>
          <a:prstGeom prst="bentConnector3">
            <a:avLst>
              <a:gd fmla="val 49939" name="adj1"/>
            </a:avLst>
          </a:prstGeom>
          <a:noFill/>
          <a:ln cap="rnd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13"/>
          <p:cNvCxnSpPr/>
          <p:nvPr/>
        </p:nvCxnSpPr>
        <p:spPr>
          <a:xfrm flipH="1">
            <a:off x="5937895" y="2942590"/>
            <a:ext cx="1045200" cy="488400"/>
          </a:xfrm>
          <a:prstGeom prst="bentConnector3">
            <a:avLst>
              <a:gd fmla="val 49939" name="adj1"/>
            </a:avLst>
          </a:prstGeom>
          <a:noFill/>
          <a:ln cap="rnd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13"/>
          <p:cNvCxnSpPr/>
          <p:nvPr/>
        </p:nvCxnSpPr>
        <p:spPr>
          <a:xfrm flipH="1">
            <a:off x="5379730" y="3430905"/>
            <a:ext cx="1045200" cy="488400"/>
          </a:xfrm>
          <a:prstGeom prst="bentConnector3">
            <a:avLst>
              <a:gd fmla="val 49939" name="adj1"/>
            </a:avLst>
          </a:prstGeom>
          <a:noFill/>
          <a:ln cap="rnd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13"/>
          <p:cNvCxnSpPr/>
          <p:nvPr/>
        </p:nvCxnSpPr>
        <p:spPr>
          <a:xfrm flipH="1">
            <a:off x="8175635" y="2942590"/>
            <a:ext cx="1045200" cy="488400"/>
          </a:xfrm>
          <a:prstGeom prst="bentConnector3">
            <a:avLst>
              <a:gd fmla="val 49939" name="adj1"/>
            </a:avLst>
          </a:prstGeom>
          <a:noFill/>
          <a:ln cap="rnd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8" name="Google Shape;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1295" y="5549900"/>
            <a:ext cx="105600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1427480" y="5165090"/>
            <a:ext cx="1170305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Стажер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25" y="4090670"/>
            <a:ext cx="838835" cy="117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2585720" y="3692525"/>
            <a:ext cx="94234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Куратор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8060" y="3252470"/>
            <a:ext cx="1695450" cy="85979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3528060" y="2942590"/>
            <a:ext cx="202819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Старший куратор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510" y="2063750"/>
            <a:ext cx="895985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4450715" y="1487170"/>
            <a:ext cx="2317750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Руководитель Отдела Продаж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3048635" y="6012815"/>
            <a:ext cx="1139190" cy="306705"/>
          </a:xfrm>
          <a:prstGeom prst="rect">
            <a:avLst/>
          </a:prstGeom>
          <a:gradFill>
            <a:gsLst>
              <a:gs pos="0">
                <a:srgbClr val="FE4444"/>
              </a:gs>
              <a:gs pos="100000">
                <a:srgbClr val="832B2B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Сегодня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4246245" y="4980305"/>
            <a:ext cx="1652905" cy="306705"/>
          </a:xfrm>
          <a:prstGeom prst="rect">
            <a:avLst/>
          </a:prstGeom>
          <a:gradFill>
            <a:gsLst>
              <a:gs pos="0">
                <a:srgbClr val="FECF40"/>
              </a:gs>
              <a:gs pos="100000">
                <a:srgbClr val="846C2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Через месяц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5446395" y="4021455"/>
            <a:ext cx="2309495" cy="30670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Через 6 месяцев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6517005" y="3062605"/>
            <a:ext cx="2106295" cy="306705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Через 12 месяцев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13"/>
          <p:cNvCxnSpPr/>
          <p:nvPr/>
        </p:nvCxnSpPr>
        <p:spPr>
          <a:xfrm flipH="1">
            <a:off x="6517015" y="2454275"/>
            <a:ext cx="1045200" cy="488400"/>
          </a:xfrm>
          <a:prstGeom prst="bentConnector3">
            <a:avLst>
              <a:gd fmla="val 49939" name="adj1"/>
            </a:avLst>
          </a:prstGeom>
          <a:noFill/>
          <a:ln cap="rnd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1" name="Google Shape;11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1635" y="2007235"/>
            <a:ext cx="903605" cy="12420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8623300" y="1485265"/>
            <a:ext cx="2200910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Руководитель Клиентского Сервиса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99935" y="620395"/>
            <a:ext cx="1191895" cy="144335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/>
        </p:nvSpPr>
        <p:spPr>
          <a:xfrm>
            <a:off x="6554470" y="185420"/>
            <a:ext cx="271716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Генеральный Директор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7031990" y="2074545"/>
            <a:ext cx="1762760" cy="306705"/>
          </a:xfrm>
          <a:prstGeom prst="rect">
            <a:avLst/>
          </a:prstGeom>
          <a:gradFill>
            <a:gsLst>
              <a:gs pos="0">
                <a:srgbClr val="14CD68"/>
              </a:gs>
              <a:gs pos="100000">
                <a:srgbClr val="035C7D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Через 5 лет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13"/>
          <p:cNvCxnSpPr/>
          <p:nvPr/>
        </p:nvCxnSpPr>
        <p:spPr>
          <a:xfrm flipH="1">
            <a:off x="7390775" y="3914775"/>
            <a:ext cx="1045200" cy="488400"/>
          </a:xfrm>
          <a:prstGeom prst="bentConnector3">
            <a:avLst>
              <a:gd fmla="val 49939" name="adj1"/>
            </a:avLst>
          </a:prstGeom>
          <a:noFill/>
          <a:ln cap="rnd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7" name="Google Shape;117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23300" y="3505200"/>
            <a:ext cx="11144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 txBox="1"/>
          <p:nvPr/>
        </p:nvSpPr>
        <p:spPr>
          <a:xfrm>
            <a:off x="9551670" y="3369310"/>
            <a:ext cx="1605280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Тренер Отдела Продаж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5782945" y="6254115"/>
            <a:ext cx="6409055" cy="553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Все сроки и кандидаты рассматриваются в индивидуальном порядке. Обязательными условиями являются лояльность к компании и ее ценностям, личная эффективность, прохождение всех этапов собеседования и испытательного срока </a:t>
            </a:r>
            <a:endParaRPr i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